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137160" cy="27432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920240"/>
            <a:ext cx="10058400" cy="2926080"/>
          </a:xfrm>
          <a:prstGeom prst="rect">
            <a:avLst/>
          </a:prstGeom>
          <a:noFill/>
        </p:spPr>
        <p:txBody>
          <a:bodyPr wrap="square" lIns="0" rIns="0" tIns="0" bIns="0">
            <a:spAutoFit/>
          </a:bodyPr>
          <a:lstStyle/>
          <a:p>
            <a:pPr>
              <a:defRPr sz="4600" b="1">
                <a:solidFill>
                  <a:srgbClr val="FFFFFF"/>
                </a:solidFill>
                <a:latin typeface="Segoe UI"/>
              </a:defRPr>
            </a:pPr>
            <a:r>
              <a:t>Customer Churn Analysis</a:t>
            </a:r>
          </a:p>
          <a:p>
            <a:pPr>
              <a:spcAft>
                <a:spcPts val="2400"/>
              </a:spcAft>
              <a:defRPr sz="3600" b="1">
                <a:solidFill>
                  <a:srgbClr val="0F766E"/>
                </a:solidFill>
                <a:latin typeface="Segoe UI"/>
              </a:defRPr>
            </a:pPr>
            <a:r>
              <a:t>&amp; Machine Learning Predictions</a:t>
            </a:r>
          </a:p>
          <a:p>
            <a:pPr>
              <a:defRPr sz="1600">
                <a:solidFill>
                  <a:srgbClr val="64748B"/>
                </a:solidFill>
                <a:latin typeface="Segoe UI"/>
              </a:defRPr>
            </a:pPr>
            <a:r>
              <a:t>Predicting customer retention, identifying key churn drivers, and proposing data-driven strategies.</a:t>
            </a:r>
          </a:p>
          <a:p>
            <a:pPr>
              <a:spcBef>
                <a:spcPts val="3000"/>
              </a:spcBef>
              <a:defRPr sz="1400">
                <a:solidFill>
                  <a:srgbClr val="0F766E"/>
                </a:solidFill>
                <a:latin typeface="Segoe UI"/>
              </a:defRPr>
            </a:pPr>
            <a:r>
              <a:t>Dataset: Telco Customer Churn (7,043 Accounts)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640080"/>
          </a:xfrm>
          <a:prstGeom prst="rect">
            <a:avLst/>
          </a:prstGeom>
          <a:noFill/>
        </p:spPr>
        <p:txBody>
          <a:bodyPr wrap="square" lIns="0" rIns="0" tIns="0" bIns="0">
            <a:spAutoFit/>
          </a:bodyPr>
          <a:lstStyle/>
          <a:p>
            <a:pPr>
              <a:defRPr sz="2800" b="1">
                <a:solidFill>
                  <a:srgbClr val="0F172A"/>
                </a:solidFill>
                <a:latin typeface="Segoe UI"/>
              </a:defRPr>
            </a:pPr>
            <a:r>
              <a:t>Executive Summary &amp; Project Goal</a:t>
            </a:r>
          </a:p>
        </p:txBody>
      </p:sp>
      <p:sp>
        <p:nvSpPr>
          <p:cNvPr id="4" name="Rectangle 3"/>
          <p:cNvSpPr/>
          <p:nvPr/>
        </p:nvSpPr>
        <p:spPr>
          <a:xfrm>
            <a:off x="731520" y="1005840"/>
            <a:ext cx="1828800" cy="36576"/>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5303520" cy="4754880"/>
          </a:xfrm>
          <a:prstGeom prst="rect">
            <a:avLst/>
          </a:prstGeom>
          <a:noFill/>
        </p:spPr>
        <p:txBody>
          <a:bodyPr wrap="square" lIns="0" rIns="0" tIns="0" bIns="0">
            <a:spAutoFit/>
          </a:bodyPr>
          <a:lstStyle/>
          <a:p>
            <a:pPr>
              <a:spcAft>
                <a:spcPts val="1200"/>
              </a:spcAft>
              <a:defRPr sz="2000" b="1">
                <a:solidFill>
                  <a:srgbClr val="0F766E"/>
                </a:solidFill>
                <a:latin typeface="Segoe UI"/>
              </a:defRPr>
            </a:pPr>
            <a:r>
              <a:t>The Business Problem</a:t>
            </a:r>
          </a:p>
          <a:p>
            <a:pPr>
              <a:spcAft>
                <a:spcPts val="1400"/>
              </a:spcAft>
            </a:pPr>
            <a:r>
              <a:rPr b="1" sz="1500">
                <a:solidFill>
                  <a:srgbClr val="0F172A"/>
                </a:solidFill>
              </a:rPr>
              <a:t>• Customer Churn</a:t>
            </a:r>
            <a:r>
              <a:rPr sz="1500">
                <a:solidFill>
                  <a:srgbClr val="64748B"/>
                </a:solidFill>
              </a:rPr>
              <a:t> occurs when subscribers cancel their service. Acquiring new customers costs 5-25x more than retaining existing ones.</a:t>
            </a:r>
          </a:p>
          <a:p>
            <a:pPr>
              <a:spcAft>
                <a:spcPts val="1400"/>
              </a:spcAft>
            </a:pPr>
            <a:r>
              <a:rPr b="1" sz="1500">
                <a:solidFill>
                  <a:srgbClr val="0F172A"/>
                </a:solidFill>
              </a:rPr>
              <a:t>• Key Objectives</a:t>
            </a:r>
            <a:r>
              <a:rPr sz="1500">
                <a:solidFill>
                  <a:srgbClr val="64748B"/>
                </a:solidFill>
              </a:rPr>
              <a:t>: Analyze customer behavior, clean and preprocess customer data, train predictive models (Logistic Regression, Decision Trees, Random Forests), and determine the primary risk factors.</a:t>
            </a:r>
          </a:p>
          <a:p>
            <a:pPr>
              <a:spcAft>
                <a:spcPts val="1400"/>
              </a:spcAft>
            </a:pPr>
            <a:r>
              <a:rPr b="1" sz="1500">
                <a:solidFill>
                  <a:srgbClr val="0F172A"/>
                </a:solidFill>
              </a:rPr>
              <a:t>• Base Dataset</a:t>
            </a:r>
            <a:r>
              <a:rPr sz="1500">
                <a:solidFill>
                  <a:srgbClr val="64748B"/>
                </a:solidFill>
              </a:rPr>
              <a:t>: 7,043 unique customer accounts with 21 socio-demographic, service subscription, and financial attributes.</a:t>
            </a:r>
          </a:p>
          <a:p>
            <a:pPr>
              <a:spcAft>
                <a:spcPts val="1400"/>
              </a:spcAft>
            </a:pPr>
            <a:r>
              <a:rPr b="1" sz="1500">
                <a:solidFill>
                  <a:srgbClr val="0F172A"/>
                </a:solidFill>
              </a:rPr>
              <a:t>• Base Churn Rate</a:t>
            </a:r>
            <a:r>
              <a:rPr sz="1500" b="1">
                <a:solidFill>
                  <a:srgbClr val="BE123C"/>
                </a:solidFill>
              </a:rPr>
              <a:t>: 26.54% of customers have churned (1,869 churned vs. 5,174 active). This represents a significant revenue leakage.</a:t>
            </a:r>
          </a:p>
        </p:txBody>
      </p:sp>
      <p:pic>
        <p:nvPicPr>
          <p:cNvPr id="6" name="Picture 5" descr="churn_distribution.png"/>
          <p:cNvPicPr>
            <a:picLocks noChangeAspect="1"/>
          </p:cNvPicPr>
          <p:nvPr/>
        </p:nvPicPr>
        <p:blipFill>
          <a:blip r:embed="rId2"/>
          <a:stretch>
            <a:fillRect/>
          </a:stretch>
        </p:blipFill>
        <p:spPr>
          <a:xfrm>
            <a:off x="6583680" y="1645920"/>
            <a:ext cx="4846320" cy="41148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640080"/>
          </a:xfrm>
          <a:prstGeom prst="rect">
            <a:avLst/>
          </a:prstGeom>
          <a:noFill/>
        </p:spPr>
        <p:txBody>
          <a:bodyPr wrap="square" lIns="0" rIns="0" tIns="0" bIns="0">
            <a:spAutoFit/>
          </a:bodyPr>
          <a:lstStyle/>
          <a:p>
            <a:pPr>
              <a:defRPr sz="2800" b="1">
                <a:solidFill>
                  <a:srgbClr val="0F172A"/>
                </a:solidFill>
                <a:latin typeface="Segoe UI"/>
              </a:defRPr>
            </a:pPr>
            <a:r>
              <a:t>Data Pipeline: Preprocessing &amp; Engineering</a:t>
            </a:r>
          </a:p>
        </p:txBody>
      </p:sp>
      <p:sp>
        <p:nvSpPr>
          <p:cNvPr id="4" name="Rectangle 3"/>
          <p:cNvSpPr/>
          <p:nvPr/>
        </p:nvSpPr>
        <p:spPr>
          <a:xfrm>
            <a:off x="731520" y="1005840"/>
            <a:ext cx="1828800" cy="36576"/>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5120640" cy="4754880"/>
          </a:xfrm>
          <a:prstGeom prst="rect">
            <a:avLst/>
          </a:prstGeom>
          <a:noFill/>
        </p:spPr>
        <p:txBody>
          <a:bodyPr wrap="square" lIns="0" rIns="0" tIns="0" bIns="0">
            <a:spAutoFit/>
          </a:bodyPr>
          <a:lstStyle/>
          <a:p>
            <a:pPr>
              <a:spcAft>
                <a:spcPts val="1200"/>
              </a:spcAft>
              <a:defRPr sz="2000" b="1">
                <a:solidFill>
                  <a:srgbClr val="0F766E"/>
                </a:solidFill>
                <a:latin typeface="Segoe UI"/>
              </a:defRPr>
            </a:pPr>
            <a:r>
              <a:t>1. Data Cleaning &amp; Structuring</a:t>
            </a:r>
          </a:p>
          <a:p>
            <a:pPr>
              <a:lnSpc>
                <a:spcPct val="115000"/>
              </a:lnSpc>
              <a:spcAft>
                <a:spcPts val="1200"/>
              </a:spcAft>
            </a:pPr>
            <a:r>
              <a:rPr b="1" sz="1400">
                <a:solidFill>
                  <a:srgbClr val="0F172A"/>
                </a:solidFill>
              </a:rPr>
              <a:t>• ID Removal: </a:t>
            </a:r>
            <a:r>
              <a:rPr sz="1400">
                <a:solidFill>
                  <a:srgbClr val="64748B"/>
                </a:solidFill>
              </a:rPr>
              <a:t>Dropped customerID as it has no predictive power and adds noise.</a:t>
            </a:r>
          </a:p>
          <a:p>
            <a:pPr>
              <a:lnSpc>
                <a:spcPct val="115000"/>
              </a:lnSpc>
              <a:spcAft>
                <a:spcPts val="1200"/>
              </a:spcAft>
            </a:pPr>
            <a:r>
              <a:rPr b="1" sz="1400">
                <a:solidFill>
                  <a:srgbClr val="0F172A"/>
                </a:solidFill>
              </a:rPr>
              <a:t>• Type Conversion: </a:t>
            </a:r>
            <a:r>
              <a:rPr sz="1400">
                <a:solidFill>
                  <a:srgbClr val="64748B"/>
                </a:solidFill>
              </a:rPr>
              <a:t>TotalCharges contained blank space strings. These were coerced to numeric (NaNs generated).</a:t>
            </a:r>
          </a:p>
          <a:p>
            <a:pPr>
              <a:lnSpc>
                <a:spcPct val="115000"/>
              </a:lnSpc>
              <a:spcAft>
                <a:spcPts val="1200"/>
              </a:spcAft>
            </a:pPr>
            <a:r>
              <a:rPr b="1" sz="1400">
                <a:solidFill>
                  <a:srgbClr val="0F172A"/>
                </a:solidFill>
              </a:rPr>
              <a:t>• Imputation: </a:t>
            </a:r>
            <a:r>
              <a:rPr sz="1400">
                <a:solidFill>
                  <a:srgbClr val="64748B"/>
                </a:solidFill>
              </a:rPr>
              <a:t>Filled missing TotalCharges values (11 records) using the column mean value.</a:t>
            </a:r>
          </a:p>
          <a:p>
            <a:pPr>
              <a:lnSpc>
                <a:spcPct val="115000"/>
              </a:lnSpc>
              <a:spcAft>
                <a:spcPts val="1200"/>
              </a:spcAft>
            </a:pPr>
            <a:r>
              <a:rPr b="1" sz="1400">
                <a:solidFill>
                  <a:srgbClr val="0F172A"/>
                </a:solidFill>
              </a:rPr>
              <a:t>• Deduplication: </a:t>
            </a:r>
            <a:r>
              <a:rPr sz="1400">
                <a:solidFill>
                  <a:srgbClr val="64748B"/>
                </a:solidFill>
              </a:rPr>
              <a:t>Identified and removed duplicate customer records to ensure model integrity.</a:t>
            </a:r>
          </a:p>
        </p:txBody>
      </p:sp>
      <p:sp>
        <p:nvSpPr>
          <p:cNvPr id="6" name="TextBox 5"/>
          <p:cNvSpPr txBox="1"/>
          <p:nvPr/>
        </p:nvSpPr>
        <p:spPr>
          <a:xfrm>
            <a:off x="6309360" y="1371600"/>
            <a:ext cx="5120640" cy="4754880"/>
          </a:xfrm>
          <a:prstGeom prst="rect">
            <a:avLst/>
          </a:prstGeom>
          <a:noFill/>
        </p:spPr>
        <p:txBody>
          <a:bodyPr wrap="square" lIns="0" rIns="0" tIns="0" bIns="0">
            <a:spAutoFit/>
          </a:bodyPr>
          <a:lstStyle/>
          <a:p>
            <a:pPr>
              <a:spcAft>
                <a:spcPts val="1200"/>
              </a:spcAft>
              <a:defRPr sz="2000" b="1">
                <a:solidFill>
                  <a:srgbClr val="0F766E"/>
                </a:solidFill>
                <a:latin typeface="Segoe UI"/>
              </a:defRPr>
            </a:pPr>
            <a:r>
              <a:t>2. Feature Engineering &amp; Scaling</a:t>
            </a:r>
          </a:p>
          <a:p>
            <a:pPr>
              <a:lnSpc>
                <a:spcPct val="115000"/>
              </a:lnSpc>
              <a:spcAft>
                <a:spcPts val="1200"/>
              </a:spcAft>
            </a:pPr>
            <a:r>
              <a:rPr b="1" sz="1400">
                <a:solidFill>
                  <a:srgbClr val="0F172A"/>
                </a:solidFill>
              </a:rPr>
              <a:t>• Binary Mapping: </a:t>
            </a:r>
            <a:r>
              <a:rPr sz="1400">
                <a:solidFill>
                  <a:srgbClr val="64748B"/>
                </a:solidFill>
              </a:rPr>
              <a:t>Mapped binary categorical variables (gender, Partner, Dependents, PhoneService, PaperlessBilling, Churn) to 0 and 1 (e.g., Male=1, Female=0).</a:t>
            </a:r>
          </a:p>
          <a:p>
            <a:pPr>
              <a:lnSpc>
                <a:spcPct val="115000"/>
              </a:lnSpc>
              <a:spcAft>
                <a:spcPts val="1200"/>
              </a:spcAft>
            </a:pPr>
            <a:r>
              <a:rPr b="1" sz="1400">
                <a:solidFill>
                  <a:srgbClr val="0F172A"/>
                </a:solidFill>
              </a:rPr>
              <a:t>• Dummy Encoding: </a:t>
            </a:r>
            <a:r>
              <a:rPr sz="1400">
                <a:solidFill>
                  <a:srgbClr val="64748B"/>
                </a:solidFill>
              </a:rPr>
              <a:t>Applied pd.get_dummies(drop_first=True) to multi-class variables (Contract, PaymentMethod, InternetService, and protection add-ons).</a:t>
            </a:r>
          </a:p>
          <a:p>
            <a:pPr>
              <a:lnSpc>
                <a:spcPct val="115000"/>
              </a:lnSpc>
              <a:spcAft>
                <a:spcPts val="1200"/>
              </a:spcAft>
            </a:pPr>
            <a:r>
              <a:rPr b="1" sz="1400">
                <a:solidFill>
                  <a:srgbClr val="0F172A"/>
                </a:solidFill>
              </a:rPr>
              <a:t>• Train/Test Split: </a:t>
            </a:r>
            <a:r>
              <a:rPr sz="1400">
                <a:solidFill>
                  <a:srgbClr val="64748B"/>
                </a:solidFill>
              </a:rPr>
              <a:t>Divided dataset into 80% training set (to fit models) and 20% test set (to evaluate generalization).</a:t>
            </a:r>
          </a:p>
          <a:p>
            <a:pPr>
              <a:lnSpc>
                <a:spcPct val="115000"/>
              </a:lnSpc>
              <a:spcAft>
                <a:spcPts val="1200"/>
              </a:spcAft>
            </a:pPr>
            <a:r>
              <a:rPr b="1" sz="1400">
                <a:solidFill>
                  <a:srgbClr val="0F172A"/>
                </a:solidFill>
              </a:rPr>
              <a:t>• Feature Scaling: </a:t>
            </a:r>
            <a:r>
              <a:rPr sz="1400">
                <a:solidFill>
                  <a:srgbClr val="64748B"/>
                </a:solidFill>
              </a:rPr>
              <a:t>Standardized features using StandardScaler on training data and transformed test data to prevent scale bias.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640080"/>
          </a:xfrm>
          <a:prstGeom prst="rect">
            <a:avLst/>
          </a:prstGeom>
          <a:noFill/>
        </p:spPr>
        <p:txBody>
          <a:bodyPr wrap="square" lIns="0" rIns="0" tIns="0" bIns="0">
            <a:spAutoFit/>
          </a:bodyPr>
          <a:lstStyle/>
          <a:p>
            <a:pPr>
              <a:defRPr sz="2800" b="1">
                <a:solidFill>
                  <a:srgbClr val="0F172A"/>
                </a:solidFill>
                <a:latin typeface="Segoe UI"/>
              </a:defRPr>
            </a:pPr>
            <a:r>
              <a:t>EDA: Customer Tenure &amp; Monthly Charges</a:t>
            </a:r>
          </a:p>
        </p:txBody>
      </p:sp>
      <p:sp>
        <p:nvSpPr>
          <p:cNvPr id="4" name="Rectangle 3"/>
          <p:cNvSpPr/>
          <p:nvPr/>
        </p:nvSpPr>
        <p:spPr>
          <a:xfrm>
            <a:off x="731520" y="1005840"/>
            <a:ext cx="1828800" cy="36576"/>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5303520" cy="4754880"/>
          </a:xfrm>
          <a:prstGeom prst="rect">
            <a:avLst/>
          </a:prstGeom>
          <a:noFill/>
        </p:spPr>
        <p:txBody>
          <a:bodyPr wrap="square" lIns="0" rIns="0" tIns="0" bIns="0">
            <a:spAutoFit/>
          </a:bodyPr>
          <a:lstStyle/>
          <a:p>
            <a:pPr>
              <a:spcAft>
                <a:spcPts val="1200"/>
              </a:spcAft>
              <a:defRPr sz="2000" b="1">
                <a:solidFill>
                  <a:srgbClr val="0F766E"/>
                </a:solidFill>
                <a:latin typeface="Segoe UI"/>
              </a:defRPr>
            </a:pPr>
            <a:r>
              <a:t>Distribution Insights (Boxplots)</a:t>
            </a:r>
          </a:p>
          <a:p>
            <a:pPr>
              <a:lnSpc>
                <a:spcPct val="115000"/>
              </a:lnSpc>
              <a:spcAft>
                <a:spcPts val="1400"/>
              </a:spcAft>
            </a:pPr>
            <a:r>
              <a:rPr b="1" sz="1500">
                <a:solidFill>
                  <a:srgbClr val="0F172A"/>
                </a:solidFill>
              </a:rPr>
              <a:t>• Tenure Distribution: </a:t>
            </a:r>
            <a:r>
              <a:rPr sz="1500">
                <a:solidFill>
                  <a:srgbClr val="64748B"/>
                </a:solidFill>
              </a:rPr>
              <a:t> (Top Chart): Shows a bimodal distribution. A large group of customers have very short tenure (0-10 months) and represent the highest churn risk, while another large group is highly stable (60-72 months).</a:t>
            </a:r>
          </a:p>
          <a:p>
            <a:pPr>
              <a:lnSpc>
                <a:spcPct val="115000"/>
              </a:lnSpc>
              <a:spcAft>
                <a:spcPts val="1400"/>
              </a:spcAft>
            </a:pPr>
            <a:r>
              <a:rPr b="1" sz="1500">
                <a:solidFill>
                  <a:srgbClr val="0F172A"/>
                </a:solidFill>
              </a:rPr>
              <a:t>• Monthly Charges: </a:t>
            </a:r>
            <a:r>
              <a:rPr sz="1500">
                <a:solidFill>
                  <a:srgbClr val="64748B"/>
                </a:solidFill>
              </a:rPr>
              <a:t> (Bottom Chart): The boxplot highlights that monthly charges are concentrated between $35 and $90. Higher monthly bills are directly linked with a higher churn probability.</a:t>
            </a:r>
          </a:p>
          <a:p>
            <a:pPr>
              <a:lnSpc>
                <a:spcPct val="115000"/>
              </a:lnSpc>
              <a:spcAft>
                <a:spcPts val="1400"/>
              </a:spcAft>
            </a:pPr>
            <a:r>
              <a:rPr b="1" sz="1500">
                <a:solidFill>
                  <a:srgbClr val="0F172A"/>
                </a:solidFill>
              </a:rPr>
              <a:t>• Key Takeaway: </a:t>
            </a:r>
            <a:r>
              <a:rPr sz="1500" b="1">
                <a:solidFill>
                  <a:srgbClr val="BE123C"/>
                </a:solidFill>
              </a:rPr>
              <a:t>: The risk of churn is heavily concentrated in the early months of a customer's life cycle, particularly if they are billed high monthly rates immediately.</a:t>
            </a:r>
          </a:p>
        </p:txBody>
      </p:sp>
      <p:pic>
        <p:nvPicPr>
          <p:cNvPr id="6" name="Picture 5" descr="plot_cell_92_out_0.png"/>
          <p:cNvPicPr>
            <a:picLocks noChangeAspect="1"/>
          </p:cNvPicPr>
          <p:nvPr/>
        </p:nvPicPr>
        <p:blipFill>
          <a:blip r:embed="rId2"/>
          <a:stretch>
            <a:fillRect/>
          </a:stretch>
        </p:blipFill>
        <p:spPr>
          <a:xfrm>
            <a:off x="6583680" y="1371600"/>
            <a:ext cx="4846320" cy="2286000"/>
          </a:xfrm>
          <a:prstGeom prst="rect">
            <a:avLst/>
          </a:prstGeom>
        </p:spPr>
      </p:pic>
      <p:pic>
        <p:nvPicPr>
          <p:cNvPr id="7" name="Picture 6" descr="plot_cell_93_out_0.png"/>
          <p:cNvPicPr>
            <a:picLocks noChangeAspect="1"/>
          </p:cNvPicPr>
          <p:nvPr/>
        </p:nvPicPr>
        <p:blipFill>
          <a:blip r:embed="rId3"/>
          <a:stretch>
            <a:fillRect/>
          </a:stretch>
        </p:blipFill>
        <p:spPr>
          <a:xfrm>
            <a:off x="6583680" y="3931920"/>
            <a:ext cx="4846320" cy="2286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640080"/>
          </a:xfrm>
          <a:prstGeom prst="rect">
            <a:avLst/>
          </a:prstGeom>
          <a:noFill/>
        </p:spPr>
        <p:txBody>
          <a:bodyPr wrap="square" lIns="0" rIns="0" tIns="0" bIns="0">
            <a:spAutoFit/>
          </a:bodyPr>
          <a:lstStyle/>
          <a:p>
            <a:pPr>
              <a:defRPr sz="2800" b="1">
                <a:solidFill>
                  <a:srgbClr val="0F172A"/>
                </a:solidFill>
                <a:latin typeface="Segoe UI"/>
              </a:defRPr>
            </a:pPr>
            <a:r>
              <a:t>EDA: Services &amp; Contract Types vs. Churn</a:t>
            </a:r>
          </a:p>
        </p:txBody>
      </p:sp>
      <p:sp>
        <p:nvSpPr>
          <p:cNvPr id="4" name="Rectangle 3"/>
          <p:cNvSpPr/>
          <p:nvPr/>
        </p:nvSpPr>
        <p:spPr>
          <a:xfrm>
            <a:off x="731520" y="1005840"/>
            <a:ext cx="1828800" cy="36576"/>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5303520" cy="4754880"/>
          </a:xfrm>
          <a:prstGeom prst="rect">
            <a:avLst/>
          </a:prstGeom>
          <a:noFill/>
        </p:spPr>
        <p:txBody>
          <a:bodyPr wrap="square" lIns="0" rIns="0" tIns="0" bIns="0">
            <a:spAutoFit/>
          </a:bodyPr>
          <a:lstStyle/>
          <a:p>
            <a:pPr>
              <a:spcAft>
                <a:spcPts val="1200"/>
              </a:spcAft>
              <a:defRPr sz="2000" b="1">
                <a:solidFill>
                  <a:srgbClr val="0F766E"/>
                </a:solidFill>
                <a:latin typeface="Segoe UI"/>
              </a:defRPr>
            </a:pPr>
            <a:r>
              <a:t>Service &amp; Contract Risk Factors</a:t>
            </a:r>
          </a:p>
          <a:p>
            <a:pPr>
              <a:lnSpc>
                <a:spcPct val="115000"/>
              </a:lnSpc>
              <a:spcAft>
                <a:spcPts val="1400"/>
              </a:spcAft>
            </a:pPr>
            <a:r>
              <a:rPr b="1" sz="1500">
                <a:solidFill>
                  <a:srgbClr val="0F172A"/>
                </a:solidFill>
              </a:rPr>
              <a:t>• Contract Type Influence</a:t>
            </a:r>
            <a:r>
              <a:rPr sz="1500" b="1">
                <a:solidFill>
                  <a:srgbClr val="BE123C"/>
                </a:solidFill>
              </a:rPr>
              <a:t>: Month-to-month contracts have an extremely high churn rate. Conversely, customers signed on 1-year and 2-year contracts show remarkable stability and very low churn rates.</a:t>
            </a:r>
          </a:p>
          <a:p>
            <a:pPr>
              <a:lnSpc>
                <a:spcPct val="115000"/>
              </a:lnSpc>
              <a:spcAft>
                <a:spcPts val="1400"/>
              </a:spcAft>
            </a:pPr>
            <a:r>
              <a:rPr b="1" sz="1500">
                <a:solidFill>
                  <a:srgbClr val="0F172A"/>
                </a:solidFill>
              </a:rPr>
              <a:t>• Internet Service Risk</a:t>
            </a:r>
            <a:r>
              <a:rPr sz="1500" b="1">
                <a:solidFill>
                  <a:srgbClr val="BE123C"/>
                </a:solidFill>
              </a:rPr>
              <a:t>: Fiber Optic subscribers exhibit a significantly higher rate of churn compared to DSL or No-Internet users. This indicates issues with price sensitivity, service quality, or heavy competitor targeting.</a:t>
            </a:r>
          </a:p>
          <a:p>
            <a:pPr>
              <a:lnSpc>
                <a:spcPct val="115000"/>
              </a:lnSpc>
              <a:spcAft>
                <a:spcPts val="1400"/>
              </a:spcAft>
            </a:pPr>
            <a:r>
              <a:rPr b="1" sz="1500">
                <a:solidFill>
                  <a:srgbClr val="0F172A"/>
                </a:solidFill>
              </a:rPr>
              <a:t>• Payment Methods</a:t>
            </a:r>
            <a:r>
              <a:rPr sz="1500">
                <a:solidFill>
                  <a:srgbClr val="64748B"/>
                </a:solidFill>
              </a:rPr>
              <a:t>: Electronic Check is highly correlated with churn. Auto-pay payment methods (Credit Card, Bank Transfer) display high retention, representing a major optimization area.</a:t>
            </a:r>
          </a:p>
        </p:txBody>
      </p:sp>
      <p:pic>
        <p:nvPicPr>
          <p:cNvPr id="6" name="Picture 5" descr="plot_cell_73_out_0.png"/>
          <p:cNvPicPr>
            <a:picLocks noChangeAspect="1"/>
          </p:cNvPicPr>
          <p:nvPr/>
        </p:nvPicPr>
        <p:blipFill>
          <a:blip r:embed="rId2"/>
          <a:stretch>
            <a:fillRect/>
          </a:stretch>
        </p:blipFill>
        <p:spPr>
          <a:xfrm>
            <a:off x="6583680" y="1371600"/>
            <a:ext cx="4846320" cy="2286000"/>
          </a:xfrm>
          <a:prstGeom prst="rect">
            <a:avLst/>
          </a:prstGeom>
        </p:spPr>
      </p:pic>
      <p:pic>
        <p:nvPicPr>
          <p:cNvPr id="7" name="Picture 6" descr="plot_cell_63_out_0.png"/>
          <p:cNvPicPr>
            <a:picLocks noChangeAspect="1"/>
          </p:cNvPicPr>
          <p:nvPr/>
        </p:nvPicPr>
        <p:blipFill>
          <a:blip r:embed="rId3"/>
          <a:stretch>
            <a:fillRect/>
          </a:stretch>
        </p:blipFill>
        <p:spPr>
          <a:xfrm>
            <a:off x="6583680" y="3931920"/>
            <a:ext cx="4846320" cy="2286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640080"/>
          </a:xfrm>
          <a:prstGeom prst="rect">
            <a:avLst/>
          </a:prstGeom>
          <a:noFill/>
        </p:spPr>
        <p:txBody>
          <a:bodyPr wrap="square" lIns="0" rIns="0" tIns="0" bIns="0">
            <a:spAutoFit/>
          </a:bodyPr>
          <a:lstStyle/>
          <a:p>
            <a:pPr>
              <a:defRPr sz="2800" b="1">
                <a:solidFill>
                  <a:srgbClr val="0F172A"/>
                </a:solidFill>
                <a:latin typeface="Segoe UI"/>
              </a:defRPr>
            </a:pPr>
            <a:r>
              <a:t>Correlation Heatmap &amp; Feature Inter-relationships</a:t>
            </a:r>
          </a:p>
        </p:txBody>
      </p:sp>
      <p:sp>
        <p:nvSpPr>
          <p:cNvPr id="4" name="Rectangle 3"/>
          <p:cNvSpPr/>
          <p:nvPr/>
        </p:nvSpPr>
        <p:spPr>
          <a:xfrm>
            <a:off x="731520" y="1005840"/>
            <a:ext cx="1828800" cy="36576"/>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4572000" cy="4754880"/>
          </a:xfrm>
          <a:prstGeom prst="rect">
            <a:avLst/>
          </a:prstGeom>
          <a:noFill/>
        </p:spPr>
        <p:txBody>
          <a:bodyPr wrap="square" lIns="0" rIns="0" tIns="0" bIns="0">
            <a:spAutoFit/>
          </a:bodyPr>
          <a:lstStyle/>
          <a:p>
            <a:pPr>
              <a:spcAft>
                <a:spcPts val="1200"/>
              </a:spcAft>
              <a:defRPr sz="2000" b="1">
                <a:solidFill>
                  <a:srgbClr val="0F766E"/>
                </a:solidFill>
                <a:latin typeface="Segoe UI"/>
              </a:defRPr>
            </a:pPr>
            <a:r>
              <a:t>Heatmap Analysis</a:t>
            </a:r>
          </a:p>
          <a:p>
            <a:pPr>
              <a:lnSpc>
                <a:spcPct val="115000"/>
              </a:lnSpc>
              <a:spcAft>
                <a:spcPts val="1400"/>
              </a:spcAft>
            </a:pPr>
            <a:r>
              <a:rPr b="1" sz="1400">
                <a:solidFill>
                  <a:srgbClr val="0F172A"/>
                </a:solidFill>
              </a:rPr>
              <a:t>• Internet Services Link: </a:t>
            </a:r>
            <a:r>
              <a:rPr sz="1400">
                <a:solidFill>
                  <a:srgbClr val="64748B"/>
                </a:solidFill>
              </a:rPr>
              <a:t>The heatmap reveals moderate-to-strong relationships among internet-related service features, indicating that customers often subscribe to multiple value-added services together.</a:t>
            </a:r>
          </a:p>
          <a:p>
            <a:pPr>
              <a:lnSpc>
                <a:spcPct val="115000"/>
              </a:lnSpc>
              <a:spcAft>
                <a:spcPts val="1400"/>
              </a:spcAft>
            </a:pPr>
            <a:r>
              <a:rPr b="1" sz="1400">
                <a:solidFill>
                  <a:srgbClr val="0F172A"/>
                </a:solidFill>
              </a:rPr>
              <a:t>• Multicollinearity: </a:t>
            </a:r>
            <a:r>
              <a:rPr sz="1400">
                <a:solidFill>
                  <a:srgbClr val="64748B"/>
                </a:solidFill>
              </a:rPr>
              <a:t>Detected between tenure, MonthlyCharges, and TotalCharges (since TotalCharges is a mathematical product of the other two). This must be handled during modeling (e.g. through regularized algorithms or scale adjustments).</a:t>
            </a:r>
          </a:p>
          <a:p>
            <a:pPr>
              <a:lnSpc>
                <a:spcPct val="115000"/>
              </a:lnSpc>
              <a:spcAft>
                <a:spcPts val="1400"/>
              </a:spcAft>
            </a:pPr>
            <a:r>
              <a:rPr b="1" sz="1400">
                <a:solidFill>
                  <a:srgbClr val="0F172A"/>
                </a:solidFill>
              </a:rPr>
              <a:t>• Strongest Direct Churn Correlations: </a:t>
            </a:r>
            <a:r>
              <a:rPr sz="1400">
                <a:solidFill>
                  <a:srgbClr val="64748B"/>
                </a:solidFill>
              </a:rPr>
              <a:t>Internet Service (Fiber Optic) and Payment Method (Electronic Check) show the highest positive correlation coefficients with the target variable Churn.</a:t>
            </a:r>
          </a:p>
        </p:txBody>
      </p:sp>
      <p:pic>
        <p:nvPicPr>
          <p:cNvPr id="6" name="Picture 5" descr="plot_cell_102_out_0.png"/>
          <p:cNvPicPr>
            <a:picLocks noChangeAspect="1"/>
          </p:cNvPicPr>
          <p:nvPr/>
        </p:nvPicPr>
        <p:blipFill>
          <a:blip r:embed="rId2"/>
          <a:stretch>
            <a:fillRect/>
          </a:stretch>
        </p:blipFill>
        <p:spPr>
          <a:xfrm>
            <a:off x="5669280" y="1371600"/>
            <a:ext cx="576072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640080"/>
          </a:xfrm>
          <a:prstGeom prst="rect">
            <a:avLst/>
          </a:prstGeom>
          <a:noFill/>
        </p:spPr>
        <p:txBody>
          <a:bodyPr wrap="square" lIns="0" rIns="0" tIns="0" bIns="0">
            <a:spAutoFit/>
          </a:bodyPr>
          <a:lstStyle/>
          <a:p>
            <a:pPr>
              <a:defRPr sz="2800" b="1">
                <a:solidFill>
                  <a:srgbClr val="0F172A"/>
                </a:solidFill>
                <a:latin typeface="Segoe UI"/>
              </a:defRPr>
            </a:pPr>
            <a:r>
              <a:t>Model Development &amp; Validation Strategy</a:t>
            </a:r>
          </a:p>
        </p:txBody>
      </p:sp>
      <p:sp>
        <p:nvSpPr>
          <p:cNvPr id="4" name="Rectangle 3"/>
          <p:cNvSpPr/>
          <p:nvPr/>
        </p:nvSpPr>
        <p:spPr>
          <a:xfrm>
            <a:off x="731520" y="1005840"/>
            <a:ext cx="1828800" cy="36576"/>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10728655" cy="4754880"/>
          </a:xfrm>
          <a:prstGeom prst="rect">
            <a:avLst/>
          </a:prstGeom>
          <a:noFill/>
        </p:spPr>
        <p:txBody>
          <a:bodyPr wrap="square" lIns="0" rIns="0" tIns="0" bIns="0">
            <a:spAutoFit/>
          </a:bodyPr>
          <a:lstStyle/>
          <a:p>
            <a:pPr>
              <a:spcAft>
                <a:spcPts val="1200"/>
              </a:spcAft>
              <a:defRPr sz="2000" b="1">
                <a:solidFill>
                  <a:srgbClr val="0F766E"/>
                </a:solidFill>
                <a:latin typeface="Segoe UI"/>
              </a:defRPr>
            </a:pPr>
            <a:r>
              <a:t>Evaluation Framework &amp; Algorithms</a:t>
            </a:r>
          </a:p>
          <a:p>
            <a:pPr>
              <a:lnSpc>
                <a:spcPct val="115000"/>
              </a:lnSpc>
              <a:spcAft>
                <a:spcPts val="1400"/>
              </a:spcAft>
            </a:pPr>
            <a:r>
              <a:rPr b="1" sz="1500">
                <a:solidFill>
                  <a:srgbClr val="0F172A"/>
                </a:solidFill>
              </a:rPr>
              <a:t>• Logistic Regression: </a:t>
            </a:r>
            <a:r>
              <a:rPr sz="1500">
                <a:solidFill>
                  <a:srgbClr val="64748B"/>
                </a:solidFill>
              </a:rPr>
              <a:t>Used as our baseline model. Standardized inputs, evaluated with cross-validation. Shows stable convergence, high interpretability, and excellent ROC-AUC performance.</a:t>
            </a:r>
          </a:p>
          <a:p>
            <a:pPr>
              <a:lnSpc>
                <a:spcPct val="115000"/>
              </a:lnSpc>
              <a:spcAft>
                <a:spcPts val="1400"/>
              </a:spcAft>
            </a:pPr>
            <a:r>
              <a:rPr b="1" sz="1500">
                <a:solidFill>
                  <a:srgbClr val="0F172A"/>
                </a:solidFill>
              </a:rPr>
              <a:t>• Decision Tree Classifier: </a:t>
            </a:r>
            <a:r>
              <a:rPr sz="1500">
                <a:solidFill>
                  <a:srgbClr val="64748B"/>
                </a:solidFill>
              </a:rPr>
              <a:t>Initially fit without constraints (resulting in heavy overfitting, 1.0 training accuracy). Subsequently regularized with max_depth=5 to limit splits, improving generalization on unseen test data.</a:t>
            </a:r>
          </a:p>
          <a:p>
            <a:pPr>
              <a:lnSpc>
                <a:spcPct val="115000"/>
              </a:lnSpc>
              <a:spcAft>
                <a:spcPts val="1400"/>
              </a:spcAft>
            </a:pPr>
            <a:r>
              <a:rPr b="1" sz="1500">
                <a:solidFill>
                  <a:srgbClr val="0F172A"/>
                </a:solidFill>
              </a:rPr>
              <a:t>• Random Forest Classifier: </a:t>
            </a:r>
            <a:r>
              <a:rPr sz="1500">
                <a:solidFill>
                  <a:srgbClr val="64748B"/>
                </a:solidFill>
              </a:rPr>
              <a:t>An ensemble method trained with 100 estimators. Bagging reduces variance and provides robust predictions, though it suffers slightly in test accuracy here compared to Logistic Regression.</a:t>
            </a:r>
          </a:p>
          <a:p>
            <a:pPr>
              <a:lnSpc>
                <a:spcPct val="115000"/>
              </a:lnSpc>
              <a:spcAft>
                <a:spcPts val="1400"/>
              </a:spcAft>
            </a:pPr>
            <a:r>
              <a:rPr b="1" sz="1500">
                <a:solidFill>
                  <a:srgbClr val="0F172A"/>
                </a:solidFill>
              </a:rPr>
              <a:t>• Validation Protocol: </a:t>
            </a:r>
            <a:r>
              <a:rPr sz="1500">
                <a:solidFill>
                  <a:srgbClr val="64748B"/>
                </a:solidFill>
              </a:rPr>
              <a:t>Divided dataset into 80% train / 20% test splits. Features normalized using StandardScaler. Evaluated Logistic Regression stability using 5-Fold Cross Validation.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640080"/>
          </a:xfrm>
          <a:prstGeom prst="rect">
            <a:avLst/>
          </a:prstGeom>
          <a:noFill/>
        </p:spPr>
        <p:txBody>
          <a:bodyPr wrap="square" lIns="0" rIns="0" tIns="0" bIns="0">
            <a:spAutoFit/>
          </a:bodyPr>
          <a:lstStyle/>
          <a:p>
            <a:pPr>
              <a:defRPr sz="2800" b="1">
                <a:solidFill>
                  <a:srgbClr val="0F172A"/>
                </a:solidFill>
                <a:latin typeface="Segoe UI"/>
              </a:defRPr>
            </a:pPr>
            <a:r>
              <a:t>Model Performance Comparison</a:t>
            </a:r>
          </a:p>
        </p:txBody>
      </p:sp>
      <p:sp>
        <p:nvSpPr>
          <p:cNvPr id="4" name="Rectangle 3"/>
          <p:cNvSpPr/>
          <p:nvPr/>
        </p:nvSpPr>
        <p:spPr>
          <a:xfrm>
            <a:off x="731520" y="1005840"/>
            <a:ext cx="1828800" cy="36576"/>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10728655" cy="1645920"/>
          </a:xfrm>
          <a:prstGeom prst="rect">
            <a:avLst/>
          </a:prstGeom>
          <a:noFill/>
        </p:spPr>
        <p:txBody>
          <a:bodyPr wrap="square" lIns="0" rIns="0" tIns="0" bIns="0">
            <a:spAutoFit/>
          </a:bodyPr>
          <a:lstStyle/>
          <a:p>
            <a:pPr>
              <a:spcAft>
                <a:spcPts val="600"/>
              </a:spcAft>
              <a:defRPr sz="2000" b="1">
                <a:solidFill>
                  <a:srgbClr val="0F766E"/>
                </a:solidFill>
                <a:latin typeface="Segoe UI"/>
              </a:defRPr>
            </a:pPr>
            <a:r>
              <a:t>Results Summary</a:t>
            </a:r>
          </a:p>
          <a:p>
            <a:pPr>
              <a:lnSpc>
                <a:spcPct val="115000"/>
              </a:lnSpc>
              <a:defRPr sz="1400">
                <a:solidFill>
                  <a:srgbClr val="64748B"/>
                </a:solidFill>
                <a:latin typeface="Segoe UI"/>
              </a:defRPr>
            </a:pPr>
            <a:r>
              <a:t>Logistic Regression outperformed the tree-based models across overall metrics. While Decision Trees and Random Forests had slightly higher precision for churn prediction, Logistic Regression captured significantly more actual churners (higher recall) and showed superior overall discrimination (ROC-AUC: 0.862).</a:t>
            </a:r>
          </a:p>
        </p:txBody>
      </p:sp>
      <p:graphicFrame>
        <p:nvGraphicFramePr>
          <p:cNvPr id="6" name="Table 5"/>
          <p:cNvGraphicFramePr>
            <a:graphicFrameLocks noGrp="1"/>
          </p:cNvGraphicFramePr>
          <p:nvPr/>
        </p:nvGraphicFramePr>
        <p:xfrm>
          <a:off x="731520" y="2926080"/>
          <a:ext cx="10728655" cy="2011680"/>
        </p:xfrm>
        <a:graphic>
          <a:graphicData uri="http://schemas.openxmlformats.org/drawingml/2006/table">
            <a:tbl>
              <a:tblPr firstRow="1" bandRow="1">
                <a:tableStyleId>{5C22544A-7EE6-4342-B048-85BDC9FD1C3A}</a:tableStyleId>
              </a:tblPr>
              <a:tblGrid>
                <a:gridCol w="1788109"/>
                <a:gridCol w="1788109"/>
                <a:gridCol w="1788109"/>
                <a:gridCol w="1788109"/>
                <a:gridCol w="1788109"/>
                <a:gridCol w="1788110"/>
              </a:tblGrid>
              <a:tr h="502920">
                <a:tc>
                  <a:txBody>
                    <a:bodyPr/>
                    <a:lstStyle/>
                    <a:p>
                      <a:pPr algn="ctr">
                        <a:defRPr sz="1400" b="1">
                          <a:solidFill>
                            <a:srgbClr val="FFFFFF"/>
                          </a:solidFill>
                          <a:latin typeface="Segoe UI"/>
                        </a:defRPr>
                      </a:pPr>
                      <a:r>
                        <a:t>Model</a:t>
                      </a:r>
                    </a:p>
                  </a:txBody>
                  <a:tcPr>
                    <a:solidFill>
                      <a:srgbClr val="0F766E"/>
                    </a:solidFill>
                  </a:tcPr>
                </a:tc>
                <a:tc>
                  <a:txBody>
                    <a:bodyPr/>
                    <a:lstStyle/>
                    <a:p>
                      <a:pPr algn="ctr">
                        <a:defRPr sz="1400" b="1">
                          <a:solidFill>
                            <a:srgbClr val="FFFFFF"/>
                          </a:solidFill>
                          <a:latin typeface="Segoe UI"/>
                        </a:defRPr>
                      </a:pPr>
                      <a:r>
                        <a:t>Test Accuracy</a:t>
                      </a:r>
                    </a:p>
                  </a:txBody>
                  <a:tcPr>
                    <a:solidFill>
                      <a:srgbClr val="0F766E"/>
                    </a:solidFill>
                  </a:tcPr>
                </a:tc>
                <a:tc>
                  <a:txBody>
                    <a:bodyPr/>
                    <a:lstStyle/>
                    <a:p>
                      <a:pPr algn="ctr">
                        <a:defRPr sz="1400" b="1">
                          <a:solidFill>
                            <a:srgbClr val="FFFFFF"/>
                          </a:solidFill>
                          <a:latin typeface="Segoe UI"/>
                        </a:defRPr>
                      </a:pPr>
                      <a:r>
                        <a:t>Churn Precision</a:t>
                      </a:r>
                    </a:p>
                  </a:txBody>
                  <a:tcPr>
                    <a:solidFill>
                      <a:srgbClr val="0F766E"/>
                    </a:solidFill>
                  </a:tcPr>
                </a:tc>
                <a:tc>
                  <a:txBody>
                    <a:bodyPr/>
                    <a:lstStyle/>
                    <a:p>
                      <a:pPr algn="ctr">
                        <a:defRPr sz="1400" b="1">
                          <a:solidFill>
                            <a:srgbClr val="FFFFFF"/>
                          </a:solidFill>
                          <a:latin typeface="Segoe UI"/>
                        </a:defRPr>
                      </a:pPr>
                      <a:r>
                        <a:t>Churn Recall</a:t>
                      </a:r>
                    </a:p>
                  </a:txBody>
                  <a:tcPr>
                    <a:solidFill>
                      <a:srgbClr val="0F766E"/>
                    </a:solidFill>
                  </a:tcPr>
                </a:tc>
                <a:tc>
                  <a:txBody>
                    <a:bodyPr/>
                    <a:lstStyle/>
                    <a:p>
                      <a:pPr algn="ctr">
                        <a:defRPr sz="1400" b="1">
                          <a:solidFill>
                            <a:srgbClr val="FFFFFF"/>
                          </a:solidFill>
                          <a:latin typeface="Segoe UI"/>
                        </a:defRPr>
                      </a:pPr>
                      <a:r>
                        <a:t>Churn F1-Score</a:t>
                      </a:r>
                    </a:p>
                  </a:txBody>
                  <a:tcPr>
                    <a:solidFill>
                      <a:srgbClr val="0F766E"/>
                    </a:solidFill>
                  </a:tcPr>
                </a:tc>
                <a:tc>
                  <a:txBody>
                    <a:bodyPr/>
                    <a:lstStyle/>
                    <a:p>
                      <a:pPr algn="ctr">
                        <a:defRPr sz="1400" b="1">
                          <a:solidFill>
                            <a:srgbClr val="FFFFFF"/>
                          </a:solidFill>
                          <a:latin typeface="Segoe UI"/>
                        </a:defRPr>
                      </a:pPr>
                      <a:r>
                        <a:t>ROC-AUC</a:t>
                      </a:r>
                    </a:p>
                  </a:txBody>
                  <a:tcPr>
                    <a:solidFill>
                      <a:srgbClr val="0F766E"/>
                    </a:solidFill>
                  </a:tcPr>
                </a:tc>
              </a:tr>
              <a:tr h="502920">
                <a:tc>
                  <a:txBody>
                    <a:bodyPr/>
                    <a:lstStyle/>
                    <a:p>
                      <a:pPr algn="ctr">
                        <a:defRPr sz="1300" b="1">
                          <a:solidFill>
                            <a:srgbClr val="0F766E"/>
                          </a:solidFill>
                          <a:latin typeface="Segoe UI"/>
                        </a:defRPr>
                      </a:pPr>
                      <a:r>
                        <a:t>Logistic Regression</a:t>
                      </a:r>
                    </a:p>
                  </a:txBody>
                  <a:tcPr>
                    <a:solidFill>
                      <a:srgbClr val="E0F2FE"/>
                    </a:solidFill>
                  </a:tcPr>
                </a:tc>
                <a:tc>
                  <a:txBody>
                    <a:bodyPr/>
                    <a:lstStyle/>
                    <a:p>
                      <a:pPr algn="ctr">
                        <a:defRPr sz="1300" b="1">
                          <a:solidFill>
                            <a:srgbClr val="0F766E"/>
                          </a:solidFill>
                          <a:latin typeface="Segoe UI"/>
                        </a:defRPr>
                      </a:pPr>
                      <a:r>
                        <a:t>82.26%</a:t>
                      </a:r>
                    </a:p>
                  </a:txBody>
                  <a:tcPr>
                    <a:solidFill>
                      <a:srgbClr val="E0F2FE"/>
                    </a:solidFill>
                  </a:tcPr>
                </a:tc>
                <a:tc>
                  <a:txBody>
                    <a:bodyPr/>
                    <a:lstStyle/>
                    <a:p>
                      <a:pPr algn="ctr">
                        <a:defRPr sz="1300" b="1">
                          <a:solidFill>
                            <a:srgbClr val="0F766E"/>
                          </a:solidFill>
                          <a:latin typeface="Segoe UI"/>
                        </a:defRPr>
                      </a:pPr>
                      <a:r>
                        <a:t>0.69</a:t>
                      </a:r>
                    </a:p>
                  </a:txBody>
                  <a:tcPr>
                    <a:solidFill>
                      <a:srgbClr val="E0F2FE"/>
                    </a:solidFill>
                  </a:tcPr>
                </a:tc>
                <a:tc>
                  <a:txBody>
                    <a:bodyPr/>
                    <a:lstStyle/>
                    <a:p>
                      <a:pPr algn="ctr">
                        <a:defRPr sz="1300" b="1">
                          <a:solidFill>
                            <a:srgbClr val="0F766E"/>
                          </a:solidFill>
                          <a:latin typeface="Segoe UI"/>
                        </a:defRPr>
                      </a:pPr>
                      <a:r>
                        <a:t>0.60</a:t>
                      </a:r>
                    </a:p>
                  </a:txBody>
                  <a:tcPr>
                    <a:solidFill>
                      <a:srgbClr val="E0F2FE"/>
                    </a:solidFill>
                  </a:tcPr>
                </a:tc>
                <a:tc>
                  <a:txBody>
                    <a:bodyPr/>
                    <a:lstStyle/>
                    <a:p>
                      <a:pPr algn="ctr">
                        <a:defRPr sz="1300" b="1">
                          <a:solidFill>
                            <a:srgbClr val="0F766E"/>
                          </a:solidFill>
                          <a:latin typeface="Segoe UI"/>
                        </a:defRPr>
                      </a:pPr>
                      <a:r>
                        <a:t>0.64</a:t>
                      </a:r>
                    </a:p>
                  </a:txBody>
                  <a:tcPr>
                    <a:solidFill>
                      <a:srgbClr val="E0F2FE"/>
                    </a:solidFill>
                  </a:tcPr>
                </a:tc>
                <a:tc>
                  <a:txBody>
                    <a:bodyPr/>
                    <a:lstStyle/>
                    <a:p>
                      <a:pPr algn="ctr">
                        <a:defRPr sz="1300" b="1">
                          <a:solidFill>
                            <a:srgbClr val="0F766E"/>
                          </a:solidFill>
                          <a:latin typeface="Segoe UI"/>
                        </a:defRPr>
                      </a:pPr>
                      <a:r>
                        <a:t>0.8620</a:t>
                      </a:r>
                    </a:p>
                  </a:txBody>
                  <a:tcPr>
                    <a:solidFill>
                      <a:srgbClr val="E0F2FE"/>
                    </a:solidFill>
                  </a:tcPr>
                </a:tc>
              </a:tr>
              <a:tr h="502920">
                <a:tc>
                  <a:txBody>
                    <a:bodyPr/>
                    <a:lstStyle/>
                    <a:p>
                      <a:pPr algn="ctr">
                        <a:defRPr sz="1300">
                          <a:solidFill>
                            <a:srgbClr val="0F172A"/>
                          </a:solidFill>
                          <a:latin typeface="Segoe UI"/>
                        </a:defRPr>
                      </a:pPr>
                      <a:r>
                        <a:t>Decision Tree (max_depth=5)</a:t>
                      </a:r>
                    </a:p>
                  </a:txBody>
                  <a:tcPr>
                    <a:solidFill>
                      <a:srgbClr val="FFFFFF"/>
                    </a:solidFill>
                  </a:tcPr>
                </a:tc>
                <a:tc>
                  <a:txBody>
                    <a:bodyPr/>
                    <a:lstStyle/>
                    <a:p>
                      <a:pPr algn="ctr">
                        <a:defRPr sz="1300">
                          <a:solidFill>
                            <a:srgbClr val="0F172A"/>
                          </a:solidFill>
                          <a:latin typeface="Segoe UI"/>
                        </a:defRPr>
                      </a:pPr>
                      <a:r>
                        <a:t>80.62%</a:t>
                      </a:r>
                    </a:p>
                  </a:txBody>
                  <a:tcPr>
                    <a:solidFill>
                      <a:srgbClr val="FFFFFF"/>
                    </a:solidFill>
                  </a:tcPr>
                </a:tc>
                <a:tc>
                  <a:txBody>
                    <a:bodyPr/>
                    <a:lstStyle/>
                    <a:p>
                      <a:pPr algn="ctr">
                        <a:defRPr sz="1300">
                          <a:solidFill>
                            <a:srgbClr val="0F172A"/>
                          </a:solidFill>
                          <a:latin typeface="Segoe UI"/>
                        </a:defRPr>
                      </a:pPr>
                      <a:r>
                        <a:t>0.70</a:t>
                      </a:r>
                    </a:p>
                  </a:txBody>
                  <a:tcPr>
                    <a:solidFill>
                      <a:srgbClr val="FFFFFF"/>
                    </a:solidFill>
                  </a:tcPr>
                </a:tc>
                <a:tc>
                  <a:txBody>
                    <a:bodyPr/>
                    <a:lstStyle/>
                    <a:p>
                      <a:pPr algn="ctr">
                        <a:defRPr sz="1300">
                          <a:solidFill>
                            <a:srgbClr val="0F172A"/>
                          </a:solidFill>
                          <a:latin typeface="Segoe UI"/>
                        </a:defRPr>
                      </a:pPr>
                      <a:r>
                        <a:t>0.46</a:t>
                      </a:r>
                    </a:p>
                  </a:txBody>
                  <a:tcPr>
                    <a:solidFill>
                      <a:srgbClr val="FFFFFF"/>
                    </a:solidFill>
                  </a:tcPr>
                </a:tc>
                <a:tc>
                  <a:txBody>
                    <a:bodyPr/>
                    <a:lstStyle/>
                    <a:p>
                      <a:pPr algn="ctr">
                        <a:defRPr sz="1300">
                          <a:solidFill>
                            <a:srgbClr val="0F172A"/>
                          </a:solidFill>
                          <a:latin typeface="Segoe UI"/>
                        </a:defRPr>
                      </a:pPr>
                      <a:r>
                        <a:t>0.56</a:t>
                      </a:r>
                    </a:p>
                  </a:txBody>
                  <a:tcPr>
                    <a:solidFill>
                      <a:srgbClr val="FFFFFF"/>
                    </a:solidFill>
                  </a:tcPr>
                </a:tc>
                <a:tc>
                  <a:txBody>
                    <a:bodyPr/>
                    <a:lstStyle/>
                    <a:p>
                      <a:pPr algn="ctr">
                        <a:defRPr sz="1300">
                          <a:solidFill>
                            <a:srgbClr val="0F172A"/>
                          </a:solidFill>
                          <a:latin typeface="Segoe UI"/>
                        </a:defRPr>
                      </a:pPr>
                      <a:r>
                        <a:t>-</a:t>
                      </a:r>
                    </a:p>
                  </a:txBody>
                  <a:tcPr>
                    <a:solidFill>
                      <a:srgbClr val="FFFFFF"/>
                    </a:solidFill>
                  </a:tcPr>
                </a:tc>
              </a:tr>
              <a:tr h="502920">
                <a:tc>
                  <a:txBody>
                    <a:bodyPr/>
                    <a:lstStyle/>
                    <a:p>
                      <a:pPr algn="ctr">
                        <a:defRPr sz="1300">
                          <a:solidFill>
                            <a:srgbClr val="0F172A"/>
                          </a:solidFill>
                          <a:latin typeface="Segoe UI"/>
                        </a:defRPr>
                      </a:pPr>
                      <a:r>
                        <a:t>Random Forest (n=100)</a:t>
                      </a:r>
                    </a:p>
                  </a:txBody>
                  <a:tcPr>
                    <a:solidFill>
                      <a:srgbClr val="FFFFFF"/>
                    </a:solidFill>
                  </a:tcPr>
                </a:tc>
                <a:tc>
                  <a:txBody>
                    <a:bodyPr/>
                    <a:lstStyle/>
                    <a:p>
                      <a:pPr algn="ctr">
                        <a:defRPr sz="1300">
                          <a:solidFill>
                            <a:srgbClr val="0F172A"/>
                          </a:solidFill>
                          <a:latin typeface="Segoe UI"/>
                        </a:defRPr>
                      </a:pPr>
                      <a:r>
                        <a:t>79.42%</a:t>
                      </a:r>
                    </a:p>
                  </a:txBody>
                  <a:tcPr>
                    <a:solidFill>
                      <a:srgbClr val="FFFFFF"/>
                    </a:solidFill>
                  </a:tcPr>
                </a:tc>
                <a:tc>
                  <a:txBody>
                    <a:bodyPr/>
                    <a:lstStyle/>
                    <a:p>
                      <a:pPr algn="ctr">
                        <a:defRPr sz="1300">
                          <a:solidFill>
                            <a:srgbClr val="0F172A"/>
                          </a:solidFill>
                          <a:latin typeface="Segoe UI"/>
                        </a:defRPr>
                      </a:pPr>
                      <a:r>
                        <a:t>0.65</a:t>
                      </a:r>
                    </a:p>
                  </a:txBody>
                  <a:tcPr>
                    <a:solidFill>
                      <a:srgbClr val="FFFFFF"/>
                    </a:solidFill>
                  </a:tcPr>
                </a:tc>
                <a:tc>
                  <a:txBody>
                    <a:bodyPr/>
                    <a:lstStyle/>
                    <a:p>
                      <a:pPr algn="ctr">
                        <a:defRPr sz="1300">
                          <a:solidFill>
                            <a:srgbClr val="0F172A"/>
                          </a:solidFill>
                          <a:latin typeface="Segoe UI"/>
                        </a:defRPr>
                      </a:pPr>
                      <a:r>
                        <a:t>0.46</a:t>
                      </a:r>
                    </a:p>
                  </a:txBody>
                  <a:tcPr>
                    <a:solidFill>
                      <a:srgbClr val="FFFFFF"/>
                    </a:solidFill>
                  </a:tcPr>
                </a:tc>
                <a:tc>
                  <a:txBody>
                    <a:bodyPr/>
                    <a:lstStyle/>
                    <a:p>
                      <a:pPr algn="ctr">
                        <a:defRPr sz="1300">
                          <a:solidFill>
                            <a:srgbClr val="0F172A"/>
                          </a:solidFill>
                          <a:latin typeface="Segoe UI"/>
                        </a:defRPr>
                      </a:pPr>
                      <a:r>
                        <a:t>0.54</a:t>
                      </a:r>
                    </a:p>
                  </a:txBody>
                  <a:tcPr>
                    <a:solidFill>
                      <a:srgbClr val="FFFFFF"/>
                    </a:solidFill>
                  </a:tcPr>
                </a:tc>
                <a:tc>
                  <a:txBody>
                    <a:bodyPr/>
                    <a:lstStyle/>
                    <a:p>
                      <a:pPr algn="ctr">
                        <a:defRPr sz="1300">
                          <a:solidFill>
                            <a:srgbClr val="0F172A"/>
                          </a:solidFill>
                          <a:latin typeface="Segoe UI"/>
                        </a:defRPr>
                      </a:pPr>
                      <a:r>
                        <a:t>-</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640080"/>
          </a:xfrm>
          <a:prstGeom prst="rect">
            <a:avLst/>
          </a:prstGeom>
          <a:noFill/>
        </p:spPr>
        <p:txBody>
          <a:bodyPr wrap="square" lIns="0" rIns="0" tIns="0" bIns="0">
            <a:spAutoFit/>
          </a:bodyPr>
          <a:lstStyle/>
          <a:p>
            <a:pPr>
              <a:defRPr sz="2800" b="1">
                <a:solidFill>
                  <a:srgbClr val="0F172A"/>
                </a:solidFill>
                <a:latin typeface="Segoe UI"/>
              </a:defRPr>
            </a:pPr>
            <a:r>
              <a:t>Key Drivers of Churn: Model Coefficients</a:t>
            </a:r>
          </a:p>
        </p:txBody>
      </p:sp>
      <p:sp>
        <p:nvSpPr>
          <p:cNvPr id="4" name="Rectangle 3"/>
          <p:cNvSpPr/>
          <p:nvPr/>
        </p:nvSpPr>
        <p:spPr>
          <a:xfrm>
            <a:off x="731520" y="1005840"/>
            <a:ext cx="1828800" cy="36576"/>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5120640" cy="4754880"/>
          </a:xfrm>
          <a:prstGeom prst="rect">
            <a:avLst/>
          </a:prstGeom>
          <a:noFill/>
        </p:spPr>
        <p:txBody>
          <a:bodyPr wrap="square" lIns="0" rIns="0" tIns="0" bIns="0">
            <a:spAutoFit/>
          </a:bodyPr>
          <a:lstStyle/>
          <a:p>
            <a:pPr>
              <a:spcAft>
                <a:spcPts val="1200"/>
              </a:spcAft>
              <a:defRPr sz="2000" b="1">
                <a:solidFill>
                  <a:srgbClr val="BE123C"/>
                </a:solidFill>
                <a:latin typeface="Segoe UI"/>
              </a:defRPr>
            </a:pPr>
            <a:r>
              <a:t>Top Churn Drivers (Increases Risk)</a:t>
            </a:r>
          </a:p>
          <a:p>
            <a:pPr>
              <a:lnSpc>
                <a:spcPct val="115000"/>
              </a:lnSpc>
              <a:spcAft>
                <a:spcPts val="1000"/>
              </a:spcAft>
            </a:pPr>
            <a:r>
              <a:rPr b="1" sz="1400">
                <a:solidFill>
                  <a:srgbClr val="BE123C"/>
                </a:solidFill>
              </a:rPr>
              <a:t>▲ Fiber Optic Internet (+0.625): </a:t>
            </a:r>
            <a:r>
              <a:rPr sz="1400">
                <a:solidFill>
                  <a:srgbClr val="64748B"/>
                </a:solidFill>
              </a:rPr>
              <a:t>The strongest positive predictor. Indicates high billing dissatisfaction, technical stability issues, or heavy competitor marketing.</a:t>
            </a:r>
          </a:p>
          <a:p>
            <a:pPr>
              <a:lnSpc>
                <a:spcPct val="115000"/>
              </a:lnSpc>
              <a:spcAft>
                <a:spcPts val="1000"/>
              </a:spcAft>
            </a:pPr>
            <a:r>
              <a:rPr b="1" sz="1400">
                <a:solidFill>
                  <a:srgbClr val="BE123C"/>
                </a:solidFill>
              </a:rPr>
              <a:t>▲ Total Charges (+0.609): </a:t>
            </a:r>
            <a:r>
              <a:rPr sz="1400">
                <a:solidFill>
                  <a:srgbClr val="64748B"/>
                </a:solidFill>
              </a:rPr>
              <a:t>High absolute accumulated charges increase churn probability, likely capturing pricing pain points for older cohorts.</a:t>
            </a:r>
          </a:p>
          <a:p>
            <a:pPr>
              <a:lnSpc>
                <a:spcPct val="115000"/>
              </a:lnSpc>
              <a:spcAft>
                <a:spcPts val="1000"/>
              </a:spcAft>
            </a:pPr>
            <a:r>
              <a:rPr b="1" sz="1400">
                <a:solidFill>
                  <a:srgbClr val="BE123C"/>
                </a:solidFill>
              </a:rPr>
              <a:t>▲ Streaming Movies / TV (+0.231 / +0.181): </a:t>
            </a:r>
            <a:r>
              <a:rPr sz="1400">
                <a:solidFill>
                  <a:srgbClr val="64748B"/>
                </a:solidFill>
              </a:rPr>
              <a:t>Premium entertainment services marginally increase churn likelihood, possibly due to cord-cutting behavior.</a:t>
            </a:r>
          </a:p>
          <a:p>
            <a:pPr>
              <a:lnSpc>
                <a:spcPct val="115000"/>
              </a:lnSpc>
              <a:spcAft>
                <a:spcPts val="1000"/>
              </a:spcAft>
            </a:pPr>
            <a:r>
              <a:rPr b="1" sz="1400">
                <a:solidFill>
                  <a:srgbClr val="BE123C"/>
                </a:solidFill>
              </a:rPr>
              <a:t>▲ Paperless Billing (+0.164): </a:t>
            </a:r>
            <a:r>
              <a:rPr sz="1400">
                <a:solidFill>
                  <a:srgbClr val="64748B"/>
                </a:solidFill>
              </a:rPr>
              <a:t>Direct correlation, potentially due to lower friction in billing reviews or digital payments.</a:t>
            </a:r>
          </a:p>
          <a:p>
            <a:pPr>
              <a:lnSpc>
                <a:spcPct val="115000"/>
              </a:lnSpc>
              <a:spcAft>
                <a:spcPts val="1000"/>
              </a:spcAft>
            </a:pPr>
            <a:r>
              <a:rPr b="1" sz="1400">
                <a:solidFill>
                  <a:srgbClr val="BE123C"/>
                </a:solidFill>
              </a:rPr>
              <a:t>▲ Electronic Check Payment (+0.151): </a:t>
            </a:r>
            <a:r>
              <a:rPr sz="1400">
                <a:solidFill>
                  <a:srgbClr val="64748B"/>
                </a:solidFill>
              </a:rPr>
              <a:t>Electronic check users churn significantly more than auto-pay users.</a:t>
            </a:r>
          </a:p>
        </p:txBody>
      </p:sp>
      <p:sp>
        <p:nvSpPr>
          <p:cNvPr id="6" name="TextBox 5"/>
          <p:cNvSpPr txBox="1"/>
          <p:nvPr/>
        </p:nvSpPr>
        <p:spPr>
          <a:xfrm>
            <a:off x="6309360" y="1371600"/>
            <a:ext cx="5120640" cy="4754880"/>
          </a:xfrm>
          <a:prstGeom prst="rect">
            <a:avLst/>
          </a:prstGeom>
          <a:noFill/>
        </p:spPr>
        <p:txBody>
          <a:bodyPr wrap="square" lIns="0" rIns="0" tIns="0" bIns="0">
            <a:spAutoFit/>
          </a:bodyPr>
          <a:lstStyle/>
          <a:p>
            <a:pPr>
              <a:spcAft>
                <a:spcPts val="1200"/>
              </a:spcAft>
              <a:defRPr sz="2000" b="1">
                <a:solidFill>
                  <a:srgbClr val="0F766E"/>
                </a:solidFill>
                <a:latin typeface="Segoe UI"/>
              </a:defRPr>
            </a:pPr>
            <a:r>
              <a:t>Top Loyalty Drivers (Reduces Risk)</a:t>
            </a:r>
          </a:p>
          <a:p>
            <a:pPr>
              <a:lnSpc>
                <a:spcPct val="115000"/>
              </a:lnSpc>
              <a:spcAft>
                <a:spcPts val="1000"/>
              </a:spcAft>
            </a:pPr>
            <a:r>
              <a:rPr b="1" sz="1400">
                <a:solidFill>
                  <a:srgbClr val="0F766E"/>
                </a:solidFill>
              </a:rPr>
              <a:t>▼ Tenure Length (-1.310): </a:t>
            </a:r>
            <a:r>
              <a:rPr sz="1400">
                <a:solidFill>
                  <a:srgbClr val="64748B"/>
                </a:solidFill>
              </a:rPr>
              <a:t>The single strongest predictor of retention. The longer a customer stays, the dramatically less likely they are to leave.</a:t>
            </a:r>
          </a:p>
          <a:p>
            <a:pPr>
              <a:lnSpc>
                <a:spcPct val="115000"/>
              </a:lnSpc>
              <a:spcAft>
                <a:spcPts val="1000"/>
              </a:spcAft>
            </a:pPr>
            <a:r>
              <a:rPr b="1" sz="1400">
                <a:solidFill>
                  <a:srgbClr val="0F766E"/>
                </a:solidFill>
              </a:rPr>
              <a:t>▼ Monthly Charges (-0.629): </a:t>
            </a:r>
            <a:r>
              <a:rPr sz="1400">
                <a:solidFill>
                  <a:srgbClr val="64748B"/>
                </a:solidFill>
              </a:rPr>
              <a:t>Negative coefficient (when accounting for tenure/total charges), reflecting high customer value lock-in.</a:t>
            </a:r>
          </a:p>
          <a:p>
            <a:pPr>
              <a:lnSpc>
                <a:spcPct val="115000"/>
              </a:lnSpc>
              <a:spcAft>
                <a:spcPts val="1000"/>
              </a:spcAft>
            </a:pPr>
            <a:r>
              <a:rPr b="1" sz="1400">
                <a:solidFill>
                  <a:srgbClr val="0F766E"/>
                </a:solidFill>
              </a:rPr>
              <a:t>▼ Two-Year Contract (-0.619): </a:t>
            </a:r>
            <a:r>
              <a:rPr sz="1400">
                <a:solidFill>
                  <a:srgbClr val="64748B"/>
                </a:solidFill>
              </a:rPr>
              <a:t>Long-term contract commitments are highly effective in ensuring customer loyalty and preventing churn.</a:t>
            </a:r>
          </a:p>
          <a:p>
            <a:pPr>
              <a:lnSpc>
                <a:spcPct val="115000"/>
              </a:lnSpc>
              <a:spcAft>
                <a:spcPts val="1000"/>
              </a:spcAft>
            </a:pPr>
            <a:r>
              <a:rPr b="1" sz="1400">
                <a:solidFill>
                  <a:srgbClr val="0F766E"/>
                </a:solidFill>
              </a:rPr>
              <a:t>▼ One-Year Contract (-0.269): </a:t>
            </a:r>
            <a:r>
              <a:rPr sz="1400">
                <a:solidFill>
                  <a:srgbClr val="64748B"/>
                </a:solidFill>
              </a:rPr>
              <a:t>Also provides moderate retention security, though less than two-year contracts.</a:t>
            </a:r>
          </a:p>
          <a:p>
            <a:pPr>
              <a:lnSpc>
                <a:spcPct val="115000"/>
              </a:lnSpc>
              <a:spcAft>
                <a:spcPts val="1000"/>
              </a:spcAft>
            </a:pPr>
            <a:r>
              <a:rPr b="1" sz="1400">
                <a:solidFill>
                  <a:srgbClr val="0F766E"/>
                </a:solidFill>
              </a:rPr>
              <a:t>▼ Online Security / Tech Support (-0.158 / -0.120): </a:t>
            </a:r>
            <a:r>
              <a:rPr sz="1400">
                <a:solidFill>
                  <a:srgbClr val="64748B"/>
                </a:solidFill>
              </a:rPr>
              <a:t>Adding cybersecurity and tech assistance heavily locks customers in and reduces churn.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640080"/>
          </a:xfrm>
          <a:prstGeom prst="rect">
            <a:avLst/>
          </a:prstGeom>
          <a:noFill/>
        </p:spPr>
        <p:txBody>
          <a:bodyPr wrap="none" lIns="0" rIns="0" tIns="0" bIns="0">
            <a:spAutoFit/>
          </a:bodyPr>
          <a:lstStyle/>
          <a:p>
            <a:pPr>
              <a:defRPr sz="2800" b="1">
                <a:solidFill>
                  <a:srgbClr val="FFFFFF"/>
                </a:solidFill>
                <a:latin typeface="Segoe UI"/>
              </a:defRPr>
            </a:pPr>
            <a:r>
              <a:t>Strategic Recommendations for Business Impact</a:t>
            </a:r>
          </a:p>
        </p:txBody>
      </p:sp>
      <p:sp>
        <p:nvSpPr>
          <p:cNvPr id="4" name="Rectangle 3"/>
          <p:cNvSpPr/>
          <p:nvPr/>
        </p:nvSpPr>
        <p:spPr>
          <a:xfrm>
            <a:off x="731520" y="1005840"/>
            <a:ext cx="1828800" cy="36576"/>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5120640" cy="4754880"/>
          </a:xfrm>
          <a:prstGeom prst="rect">
            <a:avLst/>
          </a:prstGeom>
          <a:noFill/>
        </p:spPr>
        <p:txBody>
          <a:bodyPr wrap="square" lIns="0" rIns="0" tIns="0" bIns="0">
            <a:spAutoFit/>
          </a:bodyPr>
          <a:lstStyle/>
          <a:p/>
          <a:p>
            <a:pPr>
              <a:lnSpc>
                <a:spcPct val="115000"/>
              </a:lnSpc>
              <a:spcAft>
                <a:spcPts val="2000"/>
              </a:spcAft>
            </a:pPr>
            <a:r>
              <a:rPr b="1" sz="1800">
                <a:solidFill>
                  <a:srgbClr val="0F766E"/>
                </a:solidFill>
              </a:rPr>
              <a:t>✔ Migrate to Auto-Pay
</a:t>
            </a:r>
            <a:r>
              <a:rPr sz="1500">
                <a:solidFill>
                  <a:srgbClr val="64748B"/>
                </a:solidFill>
              </a:rPr>
              <a:t>Provide a $2-$5 monthly discount for transitioning from Electronic Check to Credit Card or Bank Auto-Pay to automate renewals and reduce transaction friction.</a:t>
            </a:r>
          </a:p>
          <a:p>
            <a:pPr>
              <a:lnSpc>
                <a:spcPct val="115000"/>
              </a:lnSpc>
              <a:spcAft>
                <a:spcPts val="2000"/>
              </a:spcAft>
            </a:pPr>
            <a:r>
              <a:rPr b="1" sz="1800">
                <a:solidFill>
                  <a:srgbClr val="0F766E"/>
                </a:solidFill>
              </a:rPr>
              <a:t>✔ Optimize Fiber Optic Retention
</a:t>
            </a:r>
            <a:r>
              <a:rPr sz="1500">
                <a:solidFill>
                  <a:srgbClr val="64748B"/>
                </a:solidFill>
              </a:rPr>
              <a:t>Run quality audits and price-sensitivity check campaigns on Fiber Optic users. Bundle streaming discounts to cushion the premium price points.</a:t>
            </a:r>
          </a:p>
        </p:txBody>
      </p:sp>
      <p:sp>
        <p:nvSpPr>
          <p:cNvPr id="6" name="TextBox 5"/>
          <p:cNvSpPr txBox="1"/>
          <p:nvPr/>
        </p:nvSpPr>
        <p:spPr>
          <a:xfrm>
            <a:off x="6309360" y="1463040"/>
            <a:ext cx="5120640" cy="4754880"/>
          </a:xfrm>
          <a:prstGeom prst="rect">
            <a:avLst/>
          </a:prstGeom>
          <a:noFill/>
        </p:spPr>
        <p:txBody>
          <a:bodyPr wrap="square" lIns="0" rIns="0" tIns="0" bIns="0">
            <a:spAutoFit/>
          </a:bodyPr>
          <a:lstStyle/>
          <a:p/>
          <a:p>
            <a:pPr>
              <a:lnSpc>
                <a:spcPct val="115000"/>
              </a:lnSpc>
              <a:spcAft>
                <a:spcPts val="2000"/>
              </a:spcAft>
            </a:pPr>
            <a:r>
              <a:rPr b="1" sz="1800">
                <a:solidFill>
                  <a:srgbClr val="0F766E"/>
                </a:solidFill>
              </a:rPr>
              <a:t>✔ Contract Conversion Incentives
</a:t>
            </a:r>
            <a:r>
              <a:rPr sz="1500">
                <a:solidFill>
                  <a:srgbClr val="64748B"/>
                </a:solidFill>
              </a:rPr>
              <a:t>Target month-to-month subscribers with custom offers to upgrade to 1 or 2-year contracts. High risk of churn occurs in the first 12 months; lock-ins protect this window.</a:t>
            </a:r>
          </a:p>
          <a:p>
            <a:pPr>
              <a:lnSpc>
                <a:spcPct val="115000"/>
              </a:lnSpc>
              <a:spcAft>
                <a:spcPts val="2000"/>
              </a:spcAft>
            </a:pPr>
            <a:r>
              <a:rPr b="1" sz="1800">
                <a:solidFill>
                  <a:srgbClr val="0F766E"/>
                </a:solidFill>
              </a:rPr>
              <a:t>✔ Bundle Security &amp; Technical Add-ons
</a:t>
            </a:r>
            <a:r>
              <a:rPr sz="1500">
                <a:solidFill>
                  <a:srgbClr val="64748B"/>
                </a:solidFill>
              </a:rPr>
              <a:t>Promote Online Security and Tech Support as a combined value pack. These sticky services increase retention and boost long-term customer life time value (LTV).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